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0" b="0">
                <a:solidFill>
                  <a:srgbClr val="C8873A"/>
                </a:solidFill>
                <a:latin typeface="Calibri"/>
              </a:rPr>
              <a:t>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5F1E8"/>
                </a:solidFill>
                <a:latin typeface="Calibri"/>
              </a:rPr>
              <a:t>Model-Based Systems Engineering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C8873A"/>
                </a:solidFill>
                <a:latin typeface="Calibri"/>
              </a:rPr>
              <a:t>of a Smart Coffee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7947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5F1E8"/>
                </a:solidFill>
                <a:latin typeface="Calibri"/>
              </a:rPr>
              <a:t>From a SysML model to an interactive portal, a live digital twin,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5F1E8"/>
                </a:solidFill>
                <a:latin typeface="Calibri"/>
              </a:rPr>
              <a:t>and open-data-driven design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8778240" cy="18288"/>
          </a:xfrm>
          <a:prstGeom prst="rect">
            <a:avLst/>
          </a:prstGeom>
          <a:solidFill>
            <a:srgbClr val="24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7D70"/>
                </a:solidFill>
                <a:latin typeface="Calibri"/>
              </a:rPr>
              <a:t>MBSEF-SEng   •   CATIA Magic (SysML v1)   •   Coffee Machine System   •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0"/>
            <a:ext cx="1143000" cy="11430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41A1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3774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1E8"/>
                </a:solidFill>
                <a:latin typeface="Calibri"/>
              </a:rPr>
              <a:t>Background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1" y="33375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8C15A"/>
                </a:solidFill>
                <a:latin typeface="Calibri"/>
              </a:rPr>
              <a:t>Why MBSE, the case study, and what we set out to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The case study &amp; the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CE4D6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93392"/>
            <a:ext cx="822960" cy="82296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938528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A211C"/>
                </a:solidFill>
                <a:latin typeface="Calibri"/>
              </a:rPr>
              <a:t>The system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7D70"/>
                </a:solidFill>
                <a:latin typeface="Calibri"/>
              </a:rPr>
              <a:t>A bean-to-cup Coffee Machine System — water, brew, dispensing, power &amp; control subsystems — modelled end-to-end in SysML v1 using CATIA Magic.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7355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CE4D6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529584"/>
            <a:ext cx="822960" cy="82296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29584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474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A211C"/>
                </a:solidFill>
                <a:latin typeface="Calibri"/>
              </a:rPr>
              <a:t>The MBSE method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7D70"/>
                </a:solidFill>
                <a:latin typeface="Calibri"/>
              </a:rPr>
              <a:t>Behaviour, structure, requirements and analysis captured as one connected model (the single source of truth), across MBSEF-SEng Laboratories 1–4.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9744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CE4D6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5065776"/>
            <a:ext cx="822960" cy="82296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65776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5010912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A211C"/>
                </a:solidFill>
                <a:latin typeface="Calibri"/>
              </a:rPr>
              <a:t>The engineering question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7D70"/>
                </a:solidFill>
                <a:latin typeface="Calibri"/>
              </a:rPr>
              <a:t>Does the design meet its requirements — and how do we help decision-makers evaluate it against what actually exists on the market?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394960" cy="4608576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0116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8C15A"/>
                </a:solidFill>
                <a:latin typeface="Calibri"/>
              </a:rPr>
              <a:t>What we 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9572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39572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Calibri"/>
              </a:rPr>
              <a:t>SysML model  </a:t>
            </a:r>
            <a:r>
              <a:rPr sz="1050" b="0">
                <a:solidFill>
                  <a:srgbClr val="8A7D70"/>
                </a:solidFill>
                <a:latin typeface="Calibri"/>
              </a:rPr>
              <a:t>State machine, activities, requirements &amp; analysis (Labs 2–4), repaired &amp;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4436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4436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Calibri"/>
              </a:rPr>
              <a:t>Model export (OKF)  </a:t>
            </a:r>
            <a:r>
              <a:rPr sz="1050" b="0">
                <a:solidFill>
                  <a:srgbClr val="8A7D70"/>
                </a:solidFill>
                <a:latin typeface="Calibri"/>
              </a:rPr>
              <a:t>A machine-readable knowledge file generated straight from the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4930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4930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Calibri"/>
              </a:rPr>
              <a:t>Interactive portal  </a:t>
            </a:r>
            <a:r>
              <a:rPr sz="1050" b="0">
                <a:solidFill>
                  <a:srgbClr val="8A7D70"/>
                </a:solidFill>
                <a:latin typeface="Calibri"/>
              </a:rPr>
              <a:t>Graph explorer + structure / behaviour / requirements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416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04164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Calibri"/>
              </a:rPr>
              <a:t>Digital twin  </a:t>
            </a:r>
            <a:r>
              <a:rPr sz="1050" b="0">
                <a:solidFill>
                  <a:srgbClr val="8A7D70"/>
                </a:solidFill>
                <a:latin typeface="Calibri"/>
              </a:rPr>
              <a:t>Live simulation with fault injection — the STM reacts in real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59028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59028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Calibri"/>
              </a:rPr>
              <a:t>OEE / throughput  </a:t>
            </a:r>
            <a:r>
              <a:rPr sz="1050" b="0">
                <a:solidFill>
                  <a:srgbClr val="8A7D70"/>
                </a:solidFill>
                <a:latin typeface="Calibri"/>
              </a:rPr>
              <a:t>Operational KPIs + fault Pareto, fed by the twin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13892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13892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Calibri"/>
              </a:rPr>
              <a:t>Local-LLM chat  </a:t>
            </a:r>
            <a:r>
              <a:rPr sz="1050" b="0">
                <a:solidFill>
                  <a:srgbClr val="8A7D70"/>
                </a:solidFill>
                <a:latin typeface="Calibri"/>
              </a:rPr>
              <a:t>Natural-language Q&amp;A grounded in the model — fully offline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68756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68756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1E8"/>
                </a:solidFill>
                <a:latin typeface="Calibri"/>
              </a:rPr>
              <a:t>Market + ontology  </a:t>
            </a:r>
            <a:r>
              <a:rPr sz="1050" b="0">
                <a:solidFill>
                  <a:srgbClr val="8A7D70"/>
                </a:solidFill>
                <a:latin typeface="Calibri"/>
              </a:rPr>
              <a:t>Public-data decision support, plus a reasoning-ready knowledge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The model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84832"/>
            <a:ext cx="3502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8873A"/>
                </a:solidFill>
                <a:latin typeface="Calibri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9232"/>
            <a:ext cx="3502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7D70"/>
                </a:solidFill>
                <a:latin typeface="Calibri"/>
              </a:rPr>
              <a:t>MODEL ELEMENTS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82880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2084832"/>
            <a:ext cx="3502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8873A"/>
                </a:solidFill>
                <a:latin typeface="Calibr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999232"/>
            <a:ext cx="3502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7D70"/>
                </a:solidFill>
                <a:latin typeface="Calibri"/>
              </a:rPr>
              <a:t>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82880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2084832"/>
            <a:ext cx="3502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8873A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2999232"/>
            <a:ext cx="3502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7D70"/>
                </a:solidFill>
                <a:latin typeface="Calibri"/>
              </a:rPr>
              <a:t>ACTIVITIES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50792"/>
            <a:ext cx="3502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8873A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65192"/>
            <a:ext cx="3502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7D70"/>
                </a:solidFill>
                <a:latin typeface="Calibri"/>
              </a:rPr>
              <a:t>STATE-MACHINE 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79476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4050792"/>
            <a:ext cx="3502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8873A"/>
                </a:solidFill>
                <a:latin typeface="Calibri"/>
              </a:rPr>
              <a:t>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965192"/>
            <a:ext cx="3502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7D70"/>
                </a:solidFill>
                <a:latin typeface="Calibri"/>
              </a:rPr>
              <a:t>GRAPH NODES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794760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4050792"/>
            <a:ext cx="3502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C8873A"/>
                </a:solidFill>
                <a:latin typeface="Calibri"/>
              </a:rPr>
              <a:t>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4965192"/>
            <a:ext cx="3502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7D70"/>
                </a:solidFill>
                <a:latin typeface="Calibri"/>
              </a:rPr>
              <a:t>TRACED RELATIONS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8A7D70"/>
                </a:solidFill>
                <a:latin typeface="Calibri"/>
              </a:rPr>
              <a:t>One connected SysML model spans structure, behaviour, requirements and analysis — every figure above is read directly from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0"/>
            <a:ext cx="1143000" cy="11430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41A1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3774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1E8"/>
                </a:solidFill>
                <a:latin typeface="Calibri"/>
              </a:rPr>
              <a:t>What We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1" y="33375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8C15A"/>
                </a:solidFill>
                <a:latin typeface="Calibri"/>
              </a:rPr>
              <a:t>The SysML model and the interactive portal — in pictures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State Machine — the machine's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16130" y="1545336"/>
            <a:ext cx="6328859" cy="4864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94" y="1600200"/>
            <a:ext cx="6219131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8309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Coffee Machine STM: Off / On (Initialising → Idle → Brewing) with a concurrent heating region.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37360"/>
            <a:ext cx="3017520" cy="448056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C15A"/>
                </a:solidFill>
                <a:latin typeface="Calibri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Off → On via PowerOn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095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0954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Initialising → Idle after(30 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8130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81304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Idle → Brewing on Selection 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165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41655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Concurrent heating: after(60 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20056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entry / do / effect behaviours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Activity diagrams — functional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8A7D70"/>
                </a:solidFill>
                <a:latin typeface="Calibri"/>
              </a:rPr>
              <a:t>Function allocated to the water / brew / dispensing / control subsystems — behaviour tied to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92" y="2002536"/>
            <a:ext cx="5051136" cy="4087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ag_br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6" y="2057400"/>
            <a:ext cx="4941408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63055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Brew Coffee — 4 subsystem swimlanes, fork/join, object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2222883"/>
            <a:ext cx="5504688" cy="3646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_heat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77747"/>
            <a:ext cx="5394960" cy="3536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5942707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Heat Water (2-of-2) — decisions, merges, guards [Yes]/[No]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Interactive model portal — graph explorer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4035" y="1545336"/>
            <a:ext cx="4293049" cy="4864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c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99" y="1600200"/>
            <a:ext cx="4183321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8309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A browser portal generated from the model export: all 99 elements in one fully-integrated graph — blocks, requirements, states, activities, signals, use cases and actors.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37360"/>
            <a:ext cx="3017520" cy="448056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C15A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Live force-directed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095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0954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Connected-components gap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8130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81304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Found &amp; fixed 5 detached islands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165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41655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Now fully integrated: 0 orphans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20056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Runs from the exported OKF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Digital twin — a living, self-reporting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9353" y="1545336"/>
            <a:ext cx="6902413" cy="4864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c_sh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7" y="1600200"/>
            <a:ext cx="6792685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8309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Model-driven simulation with fault injection. Here the water tank runs dry mid-dispense, so — with no RCD fitted — the energised chassis electrocutes the operator (safety requirement 3.1.5), driven straight from the state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37360"/>
            <a:ext cx="3017520" cy="448056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C15A"/>
                </a:solidFill>
                <a:latin typeface="Calibri"/>
              </a:rPr>
              <a:t>Model-driven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STM executes: On → Brewing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095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0954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Lab 4 boiler physics + REQ 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8130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81304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Inject faults → STM reacts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165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41655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Dry tank → short → REQ 3.1.5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20056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Cheeky, model-linked hazard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OEE / throughput — model to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67918" y="1545336"/>
            <a:ext cx="5425283" cy="4864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_o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782" y="1600200"/>
            <a:ext cx="5315555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8309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Overall Equipment Effectiveness (Availability × Performance × Quality) accumulated live from the twin, with a fault Pareto ranking the 'vital few' downtime causes.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37360"/>
            <a:ext cx="3017520" cy="448056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C15A"/>
                </a:solidFill>
                <a:latin typeface="Calibri"/>
              </a:rPr>
              <a:t>Closes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A × P × Q from twin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095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0954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Faults → availability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8130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81304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Spoiled brews → quality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165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41655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Fault Pareto (vital few)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20056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Behaviour model →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Ontology — the same model, reasoned 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67918" y="1545336"/>
            <a:ext cx="5425283" cy="4864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_o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782" y="1600200"/>
            <a:ext cx="5315555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8309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The coffee machine as an ontology: classes, individuals, typed relationships and axioms. Triples in blue are read from the SysML model; a reasoner infers facts nobody typed 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37360"/>
            <a:ext cx="3017520" cy="448056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C15A"/>
                </a:solidFill>
                <a:latin typeface="Calibri"/>
              </a:rPr>
              <a:t>Why it's an ontology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Classes · individuals · relations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095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0954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Triples from the live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8130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81304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Axioms enable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165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41655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'It can make an Espresso' — derived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20056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Not a taxonomy or a schema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Local-LLM chat — ask the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066015"/>
            <a:ext cx="7790688" cy="38232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0879"/>
            <a:ext cx="7680960" cy="3713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6241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An offline local LLM (Ollama) answers in natural language, grounded in the model export — here recommending the most cost-effective compliant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37360"/>
            <a:ext cx="3017520" cy="448056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C15A"/>
                </a:solidFill>
                <a:latin typeface="Calibri"/>
              </a:rPr>
              <a:t>Grounded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Runs fully offline (CPU)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095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0954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Context = the model OKF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8130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81304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Cites requirements &amp; specs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165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41655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No cloud, no data egress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20056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Model + market aware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Market fit — open data meets the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066015"/>
            <a:ext cx="7790688" cy="38232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0879"/>
            <a:ext cx="7680960" cy="3713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6241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A7D70"/>
                </a:solidFill>
                <a:latin typeface="Calibri"/>
              </a:rPr>
              <a:t>Real, publicly-listed machines scored against the model's quantified requirements, with an interactive spec-vs-market explorer.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37360"/>
            <a:ext cx="3017520" cy="448056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C15A"/>
                </a:solidFill>
                <a:latin typeface="Calibri"/>
              </a:rPr>
              <a:t>Decision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0604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12 real machines, public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09544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209544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Compliance matrix vs reqs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81304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813048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Drag a spec → market shifts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416552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41655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Flags the most-excluding req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020056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873A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20056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5F1E8"/>
                </a:solidFill>
                <a:latin typeface="Calibri"/>
              </a:rPr>
              <a:t>Buy vs build, evidence-based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0"/>
            <a:ext cx="1143000" cy="11430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41A1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23774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1E8"/>
                </a:solidFill>
                <a:latin typeface="Calibri"/>
              </a:rPr>
              <a:t>Integration Patterns &amp;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1" y="33375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8C15A"/>
                </a:solidFill>
                <a:latin typeface="Calibri"/>
              </a:rPr>
              <a:t>How the pieces connect — and what we learned building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INTEGRATION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How it all connects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1965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1288" y="25420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A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42032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E8C15A"/>
                </a:solidFill>
                <a:latin typeface="Calibri"/>
              </a:rPr>
              <a:t>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7355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211C"/>
                </a:solidFill>
                <a:latin typeface="Calibri"/>
              </a:rPr>
              <a:t>SysML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CATIA Magic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136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(single source of truth)</a:t>
            </a:r>
          </a:p>
        </p:txBody>
      </p:sp>
      <p:sp>
        <p:nvSpPr>
          <p:cNvPr id="10" name="Chevron 9"/>
          <p:cNvSpPr/>
          <p:nvPr/>
        </p:nvSpPr>
        <p:spPr>
          <a:xfrm>
            <a:off x="2487168" y="3063240"/>
            <a:ext cx="237744" cy="457200"/>
          </a:xfrm>
          <a:prstGeom prst="chevron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286000"/>
            <a:ext cx="1965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01568" y="25420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A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542032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E8C15A"/>
                </a:solidFill>
                <a:latin typeface="Calibri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7355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211C"/>
                </a:solidFill>
                <a:latin typeface="Calibri"/>
              </a:rPr>
              <a:t>Groovy OpenAPI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576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Macros export 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136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model → OKF (JSON)</a:t>
            </a:r>
          </a:p>
        </p:txBody>
      </p:sp>
      <p:sp>
        <p:nvSpPr>
          <p:cNvPr id="17" name="Chevron 16"/>
          <p:cNvSpPr/>
          <p:nvPr/>
        </p:nvSpPr>
        <p:spPr>
          <a:xfrm>
            <a:off x="4727448" y="3063240"/>
            <a:ext cx="237744" cy="457200"/>
          </a:xfrm>
          <a:prstGeom prst="chevron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83480" y="2286000"/>
            <a:ext cx="1965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41848" y="25420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A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542032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E8C15A"/>
                </a:solidFill>
                <a:latin typeface="Calibri"/>
              </a:rPr>
              <a:t>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27355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211C"/>
                </a:solidFill>
                <a:latin typeface="Calibri"/>
              </a:rPr>
              <a:t>Web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576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Graph, panels &amp;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136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digital twin</a:t>
            </a:r>
          </a:p>
        </p:txBody>
      </p:sp>
      <p:sp>
        <p:nvSpPr>
          <p:cNvPr id="24" name="Chevron 23"/>
          <p:cNvSpPr/>
          <p:nvPr/>
        </p:nvSpPr>
        <p:spPr>
          <a:xfrm>
            <a:off x="6967728" y="3063240"/>
            <a:ext cx="237744" cy="457200"/>
          </a:xfrm>
          <a:prstGeom prst="chevron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2286000"/>
            <a:ext cx="1965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82128" y="25420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A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2542032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E8C15A"/>
                </a:solidFill>
                <a:latin typeface="Calibri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7355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211C"/>
                </a:solidFill>
                <a:latin typeface="Calibri"/>
              </a:rPr>
              <a:t>Local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6576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Ollama, grounded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9136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in the model</a:t>
            </a:r>
          </a:p>
        </p:txBody>
      </p:sp>
      <p:sp>
        <p:nvSpPr>
          <p:cNvPr id="31" name="Chevron 30"/>
          <p:cNvSpPr/>
          <p:nvPr/>
        </p:nvSpPr>
        <p:spPr>
          <a:xfrm>
            <a:off x="9208008" y="3063240"/>
            <a:ext cx="237744" cy="457200"/>
          </a:xfrm>
          <a:prstGeom prst="chevron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64040" y="2286000"/>
            <a:ext cx="1965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22408" y="25420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2A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2542032"/>
            <a:ext cx="1965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E8C15A"/>
                </a:solidFill>
                <a:latin typeface="Calibri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27355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211C"/>
                </a:solidFill>
                <a:latin typeface="Calibri"/>
              </a:rPr>
              <a:t>Decision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6576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+ open public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91363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A7D70"/>
                </a:solidFill>
                <a:latin typeface="Calibri"/>
              </a:rPr>
              <a:t>market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80060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11C"/>
                </a:solidFill>
                <a:latin typeface="Calibri"/>
              </a:rPr>
              <a:t>The model stays authoritative; everything downstream is generated from it. </a:t>
            </a:r>
            <a:r>
              <a:rPr sz="1300" b="0">
                <a:solidFill>
                  <a:srgbClr val="8A7D70"/>
                </a:solidFill>
                <a:latin typeface="Calibri"/>
              </a:rPr>
              <a:t>Change the model → re-export → the portal, twin, LLM context and market analysis all update from one JSON file.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INTEGRATION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Five reusable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7510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0195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11C"/>
                </a:solidFill>
                <a:latin typeface="Calibri"/>
              </a:rPr>
              <a:t>Macro-as-API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6675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7D70"/>
                </a:solidFill>
                <a:latin typeface="Calibri"/>
              </a:rPr>
              <a:t>Drive the authoring tool through its Groovy OpenAPI, not the GUI — scripted, repeatable, verifiable.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ECE4D6"/>
          </a:solidFill>
          <a:ln w="12700">
            <a:solidFill>
              <a:srgbClr val="D9CE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88950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9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1635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11C"/>
                </a:solidFill>
                <a:latin typeface="Calibri"/>
              </a:rPr>
              <a:t>Model as single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6675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7D70"/>
                </a:solidFill>
                <a:latin typeface="Calibri"/>
              </a:rPr>
              <a:t>Structure, behaviour, requirements &amp; analysis in one model; every downstream view is generated, never hand-copied.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80390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039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3075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11C"/>
                </a:solidFill>
                <a:latin typeface="Calibri"/>
              </a:rPr>
              <a:t>Knowledge file (OKF)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03320"/>
            <a:ext cx="6675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7D70"/>
                </a:solidFill>
                <a:latin typeface="Calibri"/>
              </a:rPr>
              <a:t>Export the model to a compact JSON — the contract between the SysML tool and any web / AI / analytics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262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ECE4D6"/>
          </a:solidFill>
          <a:ln w="12700">
            <a:solidFill>
              <a:srgbClr val="D9CE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71830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183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4515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11C"/>
                </a:solidFill>
                <a:latin typeface="Calibri"/>
              </a:rPr>
              <a:t>Grounded local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617720"/>
            <a:ext cx="6675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7D70"/>
                </a:solidFill>
                <a:latin typeface="Calibri"/>
              </a:rPr>
              <a:t>Feed the OKF to an offline LLM so answers are traceable to the model — no cloud, no data leaving the machine.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63270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32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5955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A211C"/>
                </a:solidFill>
                <a:latin typeface="Calibri"/>
              </a:rPr>
              <a:t>Open-data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532120"/>
            <a:ext cx="6675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7D70"/>
                </a:solidFill>
                <a:latin typeface="Calibri"/>
              </a:rPr>
              <a:t>Join model requirements with public market data to turn design specs into procurement &amp; trade-off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LESSONS LEARNT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What we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8424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873A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47672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211C"/>
                </a:solidFill>
                <a:latin typeface="Calibri"/>
              </a:rPr>
              <a:t>Model integrity is fragile under scripting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A7D70"/>
                </a:solidFill>
                <a:latin typeface="Calibri"/>
              </a:rPr>
              <a:t>Programmatic edits must respect the metamodel (associations own their ends) — verify after every change; the consistency checker is your friend.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8424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873A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947672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211C"/>
                </a:solidFill>
                <a:latin typeface="Calibri"/>
              </a:rPr>
              <a:t>Verify against the saved model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A7D70"/>
                </a:solidFill>
                <a:latin typeface="Calibri"/>
              </a:rPr>
              <a:t>Never trust “done” — re-reading the exported model each step caught corrupted &amp; unsaved work from an earlier session.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73552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747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873A"/>
                </a:solidFill>
                <a:latin typeface="Calibri"/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38144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211C"/>
                </a:solidFill>
                <a:latin typeface="Calibri"/>
              </a:rPr>
              <a:t>One export unlocks everything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A7D70"/>
                </a:solidFill>
                <a:latin typeface="Calibri"/>
              </a:rPr>
              <a:t>A single JSON knowledge file drives the portal, twin, OEE, LLM, market analysis and ontology — build the contract 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73552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4747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873A"/>
                </a:solidFill>
                <a:latin typeface="Calibri"/>
              </a:rP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438144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211C"/>
                </a:solidFill>
                <a:latin typeface="Calibri"/>
              </a:rPr>
              <a:t>A twin makes the model testable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A7D70"/>
                </a:solidFill>
                <a:latin typeface="Calibri"/>
              </a:rPr>
              <a:t>Simulating the STM with fault injection exposed behaviour the model doesn't capture yet — the twin became a model-review tool (see next slide).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64024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96519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873A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928616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211C"/>
                </a:solidFill>
                <a:latin typeface="Calibri"/>
              </a:rPr>
              <a:t>Grounding + provenance beat raw AI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A7D70"/>
                </a:solidFill>
                <a:latin typeface="Calibri"/>
              </a:rPr>
              <a:t>A small offline LLM gives reliable, citable answers when constrained to the model; the ontology shows why — axioms let it reason, not guess.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64024"/>
            <a:ext cx="53949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96519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8873A"/>
                </a:solidFill>
                <a:latin typeface="Calibri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928616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A211C"/>
                </a:solidFill>
                <a:latin typeface="Calibri"/>
              </a:rPr>
              <a:t>Data turns models into decisions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A7D70"/>
                </a:solidFill>
                <a:latin typeface="Calibri"/>
              </a:rPr>
              <a:t>Real market data and operational OEE reframe the model from documentation into an evidence base — and surface specs worth revisiting.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LESSONS LEARNT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A211C"/>
                </a:solidFill>
                <a:latin typeface="Calibri"/>
              </a:rPr>
              <a:t>What the model review surfaced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8A7D70"/>
                </a:solidFill>
                <a:latin typeface="Calibri"/>
              </a:rPr>
              <a:t>Building the twin, portal and ontology turned the analysis into a model audit — the connected views exposed gaps a diagram never would. Four worth acting 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37744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50008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A211C"/>
                </a:solidFill>
                <a:latin typeface="Calibri"/>
              </a:rPr>
              <a:t>Two disconnected system hierarchies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7D70"/>
                </a:solidFill>
                <a:latin typeface="Calibri"/>
              </a:rPr>
              <a:t>`Coffee Machine` (Lab 1) and `Coffee Machine System` (Labs 2–4) share no relationship — the graph shows an orphaned island. Reconcile or link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237744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350008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A211C"/>
                </a:solidFill>
                <a:latin typeface="Calibri"/>
              </a:rPr>
              <a:t>Thin requirement traceability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7D70"/>
                </a:solidFill>
                <a:latin typeface="Calibri"/>
              </a:rPr>
              <a:t>Only ~5 of 24 requirements carry satisfy/refine links; the rest float. Trace the quantitative reqs (1.1, 1.5, 1.6, 1.8) to satisfying elements.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690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29768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C4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70248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A211C"/>
                </a:solidFill>
                <a:latin typeface="Calibri"/>
              </a:rPr>
              <a:t>Safety behaviour missing from the STM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7D70"/>
                </a:solidFill>
                <a:latin typeface="Calibri"/>
              </a:rPr>
              <a:t>REQ 1.2/1.3/1.4 (overheat, low water, low beans) have no states or transitions — the twin's fault mode literally shows what the model is missing.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690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EBC"/>
            </a:solidFill>
          </a:ln>
          <a:effectLst/>
          <a:effectLst>
            <a:outerShdw blurRad="90000" dist="4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4297680"/>
            <a:ext cx="658368" cy="658368"/>
          </a:xfrm>
          <a:prstGeom prst="roundRect">
            <a:avLst>
              <a:gd name="adj" fmla="val 6000"/>
            </a:avLst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8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270248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A211C"/>
                </a:solidFill>
                <a:latin typeface="Calibri"/>
              </a:rPr>
              <a:t>Verification isn't captured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A7D70"/>
                </a:solidFill>
                <a:latin typeface="Calibri"/>
              </a:rPr>
              <a:t>Lab 4 verifies REQ 1.1 at runtime but records no «verify» in the model — add a verification relationship to close the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Calibri"/>
              </a:rPr>
              <a:t>Takeaway:  </a:t>
            </a:r>
            <a:r>
              <a:rPr sz="1300" b="0">
                <a:solidFill>
                  <a:srgbClr val="2A211C"/>
                </a:solidFill>
                <a:latin typeface="Calibri"/>
              </a:rPr>
              <a:t>the labs teach each SysML pillar well, but leave the model under-connected — a few “wire it together” steps would give full coverage.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C15A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5F1E8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28016" cy="1234440"/>
          </a:xfrm>
          <a:prstGeom prst="rect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1E8"/>
                </a:solidFill>
                <a:latin typeface="Calibri"/>
              </a:rPr>
              <a:t>Faster, evidence-based design decisions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BDAF"/>
                </a:solidFill>
                <a:latin typeface="Calibri"/>
              </a:rPr>
              <a:t>Requirements, behaviour and market reality in one place — trade-offs are visible, not buried in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128016" cy="1234440"/>
          </a:xfrm>
          <a:prstGeom prst="rect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1E8"/>
                </a:solidFill>
                <a:latin typeface="Calibri"/>
              </a:rPr>
              <a:t>A model that speaks to everyone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BDAF"/>
                </a:solidFill>
                <a:latin typeface="Calibri"/>
              </a:rPr>
              <a:t>Engineers get diagrams; decision-makers get a portal, a twin and plain-language answers — from the same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332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63440"/>
            <a:ext cx="128016" cy="1234440"/>
          </a:xfrm>
          <a:prstGeom prst="rect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463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1E8"/>
                </a:solidFill>
                <a:latin typeface="Calibri"/>
              </a:rPr>
              <a:t>Repeatable &amp; extensible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BDAF"/>
                </a:solidFill>
                <a:latin typeface="Calibri"/>
              </a:rPr>
              <a:t>The macro → OKF → portal/AI/data pipeline applies to any SysML model, not just coffee.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65176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>
                <a:solidFill>
                  <a:srgbClr val="C8873A"/>
                </a:solidFill>
                <a:latin typeface="Calibri"/>
              </a:rPr>
              <a:t>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1E8"/>
                </a:solidFill>
                <a:latin typeface="Calibri"/>
              </a:rPr>
              <a:t>From SysML model to decisions — one connected thread.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80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C15A"/>
                </a:solidFill>
                <a:latin typeface="Calibri"/>
              </a:rPr>
              <a:t>MBSE • Digital Twin • Grounded AI • Open-Data 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